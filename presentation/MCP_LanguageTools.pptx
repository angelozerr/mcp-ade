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pzalutski-pixel/javalens-mcp" TargetMode="External"/><Relationship Id="rId3" Type="http://schemas.openxmlformats.org/officeDocument/2006/relationships/hyperlink" Target="https://github.com/DeusData/codebase-memory-mcp" TargetMode="External"/><Relationship Id="rId4" Type="http://schemas.openxmlformats.org/officeDocument/2006/relationships/hyperlink" Target="https://github.com/stephanj/LSP4J-MCP" TargetMode="External"/><Relationship Id="rId5" Type="http://schemas.openxmlformats.org/officeDocument/2006/relationships/hyperlink" Target="https://github.com/SachieWang/java-jdtls-mcp-server" TargetMode="External"/><Relationship Id="rId6" Type="http://schemas.openxmlformats.org/officeDocument/2006/relationships/hyperlink" Target="https://www.jetbrains.com/help/rider/mcp-server.html" TargetMode="External"/><Relationship Id="rId7" Type="http://schemas.openxmlformats.org/officeDocument/2006/relationships/hyperlink" Target="https://github.com/juehang/vscode-mcp-server" TargetMode="External"/><Relationship Id="rId8" Type="http://schemas.openxmlformats.org/officeDocument/2006/relationships/hyperlink" Target="https://github.com/Tritlo/lsp-mcp" TargetMode="External"/><Relationship Id="rId9" Type="http://schemas.openxmlformats.org/officeDocument/2006/relationships/hyperlink" Target="https://github.com/isaacphi/mcp-language-server" TargetMode="External"/><Relationship Id="rId10" Type="http://schemas.openxmlformats.org/officeDocument/2006/relationships/hyperlink" Target="https://github.com/KashunCheng/dap_mcp" TargetMode="External"/><Relationship Id="rId11" Type="http://schemas.openxmlformats.org/officeDocument/2006/relationships/hyperlink" Target="https://github.com/JesseObrien/mcp-debug-serve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gelozerr/mcp-languagetool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0E0E0"/>
                </a:solidFill>
                <a:latin typeface="Segoe UI"/>
              </a:defRPr>
            </a:pPr>
            <a:r>
              <a:t>MCP Language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651760"/>
            <a:ext cx="30175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A0"/>
                </a:solidFill>
                <a:latin typeface="Segoe UI"/>
              </a:defRPr>
            </a:pPr>
            <a:r>
              <a:t>Bringing Java tooling to AI assistants</a:t>
            </a:r>
            <a:br/>
            <a:r>
              <a:t>without an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CC"/>
                </a:solidFill>
                <a:latin typeface="Segoe UI"/>
              </a:defRPr>
            </a:pPr>
            <a:r>
              <a:t>Eclipse JDT.LS  +  vscode-java-debug  + 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Angelo Zerr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What Already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MCP servers for code intelligence and debugging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486400" cy="2011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Segoe UI"/>
              </a:defRPr>
            </a:pPr>
            <a:r>
              <a:t>Java-specific MCP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4EC9B0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2"/>
              </a:rPr>
              <a:t>javalens-mcp</a:t>
            </a:r>
            <a:r>
              <a:rPr sz="1200">
                <a:solidFill>
                  <a:srgbClr val="E0E0E0"/>
                </a:solidFill>
                <a:latin typeface="Segoe UI"/>
              </a:rPr>
              <a:t> — 56 tools, Eclipse JDT Core direct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4EC9B0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3"/>
              </a:rPr>
              <a:t>codebase-memory-mcp</a:t>
            </a:r>
            <a:r>
              <a:rPr sz="1200">
                <a:solidFill>
                  <a:srgbClr val="E0E0E0"/>
                </a:solidFill>
                <a:latin typeface="Segoe UI"/>
              </a:rPr>
              <a:t> — tree-sitter + JDT semantic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4EC9B0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4"/>
              </a:rPr>
              <a:t>LSP4J-MCP</a:t>
            </a:r>
            <a:r>
              <a:rPr sz="1200">
                <a:solidFill>
                  <a:srgbClr val="E0E0E0"/>
                </a:solidFill>
                <a:latin typeface="Segoe UI"/>
              </a:rPr>
              <a:t> — JDT.LS wrapper via LSP4J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4EC9B0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5"/>
              </a:rPr>
              <a:t>java-jdtls-mcp-server</a:t>
            </a:r>
            <a:r>
              <a:rPr sz="1200">
                <a:solidFill>
                  <a:srgbClr val="E0E0E0"/>
                </a:solidFill>
                <a:latin typeface="Segoe UI"/>
              </a:rPr>
              <a:t> — JDT.LS bridge + AI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2011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69CD6"/>
                </a:solidFill>
                <a:latin typeface="Segoe UI"/>
              </a:defRPr>
            </a:pPr>
            <a:r>
              <a:t>IDE-based MCP 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569CD6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6"/>
              </a:rPr>
              <a:t>JetBrains MCP Server</a:t>
            </a:r>
            <a:r>
              <a:rPr sz="1200">
                <a:solidFill>
                  <a:srgbClr val="E0E0E0"/>
                </a:solidFill>
                <a:latin typeface="Segoe UI"/>
              </a:rPr>
              <a:t> — built-in since 2025.2 (IntelliJ, PyCharm...)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569CD6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7"/>
              </a:rPr>
              <a:t>vscode-mcp-server</a:t>
            </a:r>
            <a:r>
              <a:rPr sz="1200">
                <a:solidFill>
                  <a:srgbClr val="E0E0E0"/>
                </a:solidFill>
                <a:latin typeface="Segoe UI"/>
              </a:rPr>
              <a:t> — VS Code editing features via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Powerful, but require a running 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486400" cy="10972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Segoe UI"/>
              </a:defRPr>
            </a:pPr>
            <a:r>
              <a:t>MCP + LSP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A0A0A0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8"/>
              </a:rPr>
              <a:t>lsp-mcp</a:t>
            </a:r>
            <a:r>
              <a:rPr sz="1200">
                <a:solidFill>
                  <a:srgbClr val="E0E0E0"/>
                </a:solidFill>
                <a:latin typeface="Segoe UI"/>
              </a:rPr>
              <a:t> — hover, completion, code actions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A0A0A0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9"/>
              </a:rPr>
              <a:t>mcp-language-server</a:t>
            </a:r>
            <a:r>
              <a:rPr sz="1200">
                <a:solidFill>
                  <a:srgbClr val="E0E0E0"/>
                </a:solidFill>
                <a:latin typeface="Segoe UI"/>
              </a:rPr>
              <a:t> — definition, references, rename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06240"/>
            <a:ext cx="5029200" cy="10972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MCP + DAP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572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A0A0A0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10"/>
              </a:rPr>
              <a:t>dap-mcp</a:t>
            </a:r>
            <a:r>
              <a:rPr sz="1200">
                <a:solidFill>
                  <a:srgbClr val="E0E0E0"/>
                </a:solidFill>
                <a:latin typeface="Segoe UI"/>
              </a:rPr>
              <a:t> — breakpoints, step, evaluate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A0A0A0"/>
                </a:solidFill>
                <a:latin typeface="Segoe UI"/>
              </a:rPr>
              <a:t>▸ </a:t>
            </a:r>
            <a:r>
              <a:rPr sz="1200" u="sng">
                <a:latin typeface="Segoe UI"/>
                <a:solidFill>
                  <a:srgbClr val="E0E0E0"/>
                </a:solidFill>
                <a:hlinkClick r:id="rId11"/>
              </a:rPr>
              <a:t>mcp-debug-server</a:t>
            </a:r>
            <a:r>
              <a:rPr sz="1200">
                <a:solidFill>
                  <a:srgbClr val="E0E0E0"/>
                </a:solidFill>
                <a:latin typeface="Segoe UI"/>
              </a:rPr>
              <a:t> — DAP integration for Claude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698480" cy="128016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Segoe UI"/>
              </a:defRPr>
            </a:pPr>
            <a:r>
              <a:t>Good tools, but...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52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LSP or DAP — never both together  ·  No server collaboration  ·  No multi-language platform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No Quarkus/Qute/MicroProfile (no JDT delegate command handler)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IDE-based MCP: powerful but require a running IDE — not usable in CI, containers, or headless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Beyond LSP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LSP features alone are not enough for robust Java MCP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2011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Segoe UI"/>
              </a:defRPr>
            </a:pPr>
            <a:r>
              <a:t>Approach 1: JDT Core direct (javalens-mcp)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4EC9B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56 advanced Java tools (type hierarchy, refactoring...)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4EC9B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Full JDT API access — robust results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4EC9B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But: no Quarkus/Qute/Liberty, no server collaboration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4EC9B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Single server, no delegate command handler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303520" cy="2011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A0"/>
                </a:solidFill>
                <a:latin typeface="Segoe UI"/>
              </a:defRPr>
            </a:pPr>
            <a:r>
              <a:t>Approach 2: JDT.LS via LSP protocol only (LSP4J-MCP...)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A0A0A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Wraps JDT.LS but only uses LSP protocol (completion, hover...)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A0A0A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Ignores JDT.LS plugins and delegate command handlers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A0A0A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No advanced analysis, no refactoring, no framework support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A0A0A0"/>
                </a:solidFill>
                <a:latin typeface="Segoe UI"/>
              </a:rPr>
              <a:t>▸ </a:t>
            </a:r>
            <a:r>
              <a:rPr sz="1300">
                <a:solidFill>
                  <a:srgbClr val="E0E0E0"/>
                </a:solidFill>
                <a:latin typeface="Segoe UI"/>
              </a:rPr>
              <a:t>Cannot reuse vscode-quarkus/liberty/debug plugins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029200" cy="429768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DCAA"/>
                </a:solidFill>
                <a:latin typeface="Segoe UI"/>
              </a:defRPr>
            </a:pPr>
            <a:r>
              <a:t>MCP Language Tools: Best of 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Platform that orchestrates LSP &amp; DAP servers and manages</a:t>
            </a:r>
            <a:br/>
            <a:r>
              <a:t>their communication (like VS Code + vscode-java for Java,</a:t>
            </a:r>
            <a:br/>
            <a:r>
              <a:t>but for any language)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017520"/>
            <a:ext cx="4480560" cy="146304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063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Segoe UI"/>
              </a:defRPr>
            </a:pPr>
            <a:r>
              <a:t>JDT.LS = VS Code extension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38328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Using JDT.LS (not JDT Core) means reusing plugins from:</a:t>
            </a:r>
            <a:br/>
            <a:r>
              <a:t>→ LSP: vscode-quarkus, vscode-microprofile, vscode-liberty</a:t>
            </a:r>
            <a:br/>
            <a:r>
              <a:t>→ DAP: vscode-java-debug (requires JDT.LS)</a:t>
            </a:r>
            <a:br/>
            <a:r>
              <a:t>All these plugins work with MCP LT out-of-the-box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663440"/>
            <a:ext cx="4480560" cy="15544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7091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+ Advanced tools via mcp-jdtls 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0749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OSGi bundle deployed into JDT.LS:</a:t>
            </a:r>
            <a:br/>
            <a:r>
              <a:t>→ Full JDT API access for 80 advanced MCP tools</a:t>
            </a:r>
            <a:br/>
            <a:r>
              <a:t>   (hierarchy, refactoring, code quality, search...)</a:t>
            </a:r>
            <a:br/>
            <a:r>
              <a:t>→ Best of both: LSP ecosystem + JDT API power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The Solution: MCP as the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A0"/>
                </a:solidFill>
                <a:latin typeface="Segoe UI"/>
              </a:defRPr>
            </a:pPr>
            <a:r>
              <a:t>An MCP server that manages LSP and DAP servers together and exposes their capabilities as MCP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560320" cy="10972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Segoe UI"/>
              </a:defRPr>
            </a:pPr>
            <a:r>
              <a:t>AI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Claude Code / Bob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926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→ MCP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560320"/>
            <a:ext cx="2926080" cy="164592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ACC"/>
                </a:solidFill>
                <a:latin typeface="Segoe UI"/>
              </a:defRPr>
            </a:pPr>
            <a:r>
              <a:t>MCP Language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Segoe UI"/>
              </a:defRPr>
            </a:pPr>
            <a:r>
              <a:t>110+ MCP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Workspace &amp; Lifecycle Mgr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606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Segoe UI"/>
              </a:defRPr>
            </a:pPr>
            <a:r>
              <a:t>→ LSP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154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Segoe UI"/>
              </a:defRPr>
            </a:pPr>
            <a:r>
              <a:t>→ LSP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703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→ DAP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423160"/>
            <a:ext cx="2926080" cy="6400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  <a:latin typeface="Segoe UI"/>
              </a:defRPr>
            </a:pPr>
            <a:r>
              <a:t>Eclipse JDT.LS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Segoe UI"/>
              </a:defRPr>
            </a:pPr>
            <a:r>
              <a:t>80 Java tools + mcp-jdtls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200400"/>
            <a:ext cx="2926080" cy="5029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Quarkus / Qute / Liberty 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3840480"/>
            <a:ext cx="2926080" cy="5029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vscode-java-debug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80"/>
            <a:ext cx="2743200" cy="18288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DCAA"/>
                </a:solidFill>
                <a:latin typeface="Segoe UI"/>
              </a:defRPr>
            </a:pPr>
            <a:r>
              <a:t>LSP + DAP together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JDT.LS + Quarkus/Qute/Liberty (LSP)</a:t>
            </a:r>
            <a:br/>
            <a:r>
              <a:t>vscode-java-debug (DAP)</a:t>
            </a:r>
            <a:br/>
            <a:r>
              <a:t>DAP ↔ LSP coordination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4754880"/>
            <a:ext cx="2743200" cy="18288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846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DCAA"/>
                </a:solidFill>
                <a:latin typeface="Segoe UI"/>
              </a:defRPr>
            </a:pPr>
            <a:r>
              <a:t>Server 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2120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contributes: bundles, classpath,</a:t>
            </a:r>
            <a:br/>
            <a:r>
              <a:t>bindRequest/Notification</a:t>
            </a:r>
            <a:br/>
            <a:r>
              <a:t>80 Java tools via mcp-jdtls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754880"/>
            <a:ext cx="2560320" cy="18288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846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DCAA"/>
                </a:solidFill>
                <a:latin typeface="Segoe UI"/>
              </a:defRPr>
            </a:pPr>
            <a:r>
              <a:t>Open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12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18+ language extensions</a:t>
            </a:r>
            <a:br/>
            <a:r>
              <a:t>Add any LSP/DAP server</a:t>
            </a:r>
            <a:br/>
            <a:r>
              <a:t>Admin console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4754880"/>
            <a:ext cx="2560320" cy="18288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4846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DCAA"/>
                </a:solidFill>
                <a:latin typeface="Segoe UI"/>
              </a:defRPr>
            </a:pPr>
            <a:r>
              <a:t>Practical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212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VSCode settings.json reuse</a:t>
            </a:r>
            <a:br/>
            <a:r>
              <a:t>Auto-install servers</a:t>
            </a:r>
            <a:br/>
            <a:r>
              <a:t>IDE server reuse (study)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Built on Quarkus MCP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A0"/>
                </a:solidFill>
                <a:latin typeface="Segoe UI"/>
              </a:defRPr>
            </a:pPr>
            <a:r>
              <a:t>MCP tools are declared via Quarkus MCP Server annotations — zero boilerplate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943600" cy="3657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Declaring an MCP tool (Java)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ED4DA"/>
                </a:solidFill>
                <a:latin typeface="Segoe UI"/>
              </a:defRPr>
            </a:pPr>
            <a:r>
              <a:t>@Tool(name = "java_find_field_writes",</a:t>
            </a:r>
            <a:br/>
            <a:r>
              <a:t>      description = "Find all write accesses to a field")</a:t>
            </a:r>
            <a:br/>
            <a:r>
              <a:t>public CompletableFuture&lt;String&gt; findFieldWrites(</a:t>
            </a:r>
            <a:br/>
            <a:r>
              <a:t>        @ToolArg(description = "...") String cwd,</a:t>
            </a:r>
            <a:br/>
            <a:r>
              <a:t>        @ToolArg(description = "...") String fileUri,</a:t>
            </a:r>
            <a:br/>
            <a:r>
              <a:t>        @ToolArg(description = "...") int line,</a:t>
            </a:r>
            <a:br/>
            <a:r>
              <a:t>        @ToolArg(description = "...") int character,</a:t>
            </a:r>
            <a:br/>
            <a:r>
              <a:t>        Cancellation cancellation,</a:t>
            </a:r>
            <a:br/>
            <a:r>
              <a:t>        Progress progress) { ...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560320"/>
            <a:ext cx="4389120" cy="9144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651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Quarkus MCP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175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@Tool, @ToolArg, Progress, Cancellation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657600"/>
            <a:ext cx="4389120" cy="6400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703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Segoe UI"/>
              </a:defRPr>
            </a:pPr>
            <a:r>
              <a:t>Quarkus (runtime)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7763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CDI, native binary, fast startup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480560"/>
            <a:ext cx="4389120" cy="6400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526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Segoe UI"/>
              </a:defRPr>
            </a:pPr>
            <a:r>
              <a:t>LSP4J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006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LSP and DAP protocol clients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303520"/>
            <a:ext cx="4389120" cy="6400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349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Admin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6235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Quarkus web resources + WebSocket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Adding a language server or debug adapter is simple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9496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Segoe UI"/>
              </a:defRPr>
            </a:pPr>
            <a:r>
              <a:t>Add an LSP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Just provide a server.json:</a:t>
            </a:r>
            <a:br/>
            <a:r>
              <a:t>name, command, documentSelector.</a:t>
            </a:r>
            <a:br/>
            <a:r>
              <a:t>MCP LT handles lifecycle, workspace isolation,</a:t>
            </a:r>
            <a:br/>
            <a:r>
              <a:t>traces, and contribution wiring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2011680"/>
            <a:ext cx="539496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Segoe UI"/>
              </a:defRPr>
            </a:pPr>
            <a:r>
              <a:t>Add a DAP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06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Same simplicity for debug adapters:</a:t>
            </a:r>
            <a:br/>
            <a:r>
              <a:t>name, command, debug templates.</a:t>
            </a:r>
            <a:br/>
            <a:r>
              <a:t>Link to an LSP server for coordination</a:t>
            </a:r>
            <a:br/>
            <a:r>
              <a:t>(e.g., java-debug ↔ JDT.LS). Done.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539496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526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69CD6"/>
                </a:solidFill>
                <a:latin typeface="Segoe UI"/>
              </a:defRPr>
            </a:pPr>
            <a:r>
              <a:t>Workspace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983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Each project gets its own server instances.</a:t>
            </a:r>
            <a:br/>
            <a:r>
              <a:t>Created on-demand when an AI agent calls</a:t>
            </a:r>
            <a:br/>
            <a:r>
              <a:t>a tool with a cwd parameter.</a:t>
            </a:r>
            <a:br/>
            <a:r>
              <a:t>No cross-project interference.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4389120"/>
            <a:ext cx="539496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4526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Segoe UI"/>
              </a:defRPr>
            </a:pPr>
            <a:r>
              <a:t>Server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983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Servers communicate automatically:</a:t>
            </a:r>
            <a:br/>
            <a:r>
              <a:t>contributes: bundles, classpath,</a:t>
            </a:r>
            <a:br/>
            <a:r>
              <a:t>bindRequest/Notification.</a:t>
            </a:r>
            <a:br/>
            <a:r>
              <a:t>Declared in server.json — no code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Java: 80 Specialized MCP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Powered by Eclipse JDT.LS + custom mcp-jdtls plugin (OSGi bundle)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Analysis (12)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Type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Call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Control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Change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01168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Navigation (11)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Go-to-definition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Hover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Javadoc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Symbol info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01168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Code Search (11)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Find 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Find implementations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Find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Find unused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01168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Reference Search (6)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Method 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Field writes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Casts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Catch blocks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01168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Refactoring (18)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Extract method/variable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Inline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Convert to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Move type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38912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Code Generation (5)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Getters/setters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Constructors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equals/hashCode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toString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34640" y="438912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Diagnostics (4)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Validate syntax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Quick fixes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Diagnose &amp; fix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0640" y="438912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578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Code Quality (5)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Large classes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Naming violations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Circular deps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Possible bugs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06640" y="438912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38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Framework (3)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HTTP endpoints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JPA 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DI registrations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92640" y="4389120"/>
            <a:ext cx="2103120" cy="2103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298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Project (4)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Project structure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8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Classpath info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▸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Quarkus &amp; Qute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Framework-aware Java development via JDT delegate command handler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228600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Segoe UI"/>
              </a:defRPr>
            </a:pPr>
            <a:r>
              <a:t>Quarkus 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application.properties completion &amp; validation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REST endpoint discovery (java_get_http_endpoints)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CDI injection analysis (java_get_di_registrations)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Delegates Java resolution to JDT.LS via bind mechanism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228600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Segoe UI"/>
              </a:defRPr>
            </a:pPr>
            <a:r>
              <a:t>Qute 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517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Qute template completion &amp; validation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Type-safe template expressions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Java type resolution via JDT delegate commands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Template ↔ Java type binding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201168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How it works: MCP Language Tools manages inter-LSP communication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120640"/>
            <a:ext cx="10058400" cy="1371600"/>
          </a:xfrm>
          <a:prstGeom prst="round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MCP Language Tools (orchestrator)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486400"/>
            <a:ext cx="2743200" cy="82296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Quarkus / Qute 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Segoe UI"/>
              </a:defRPr>
            </a:pPr>
            <a:r>
              <a:t>needs Java type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DCAA"/>
                </a:solidFill>
                <a:latin typeface="Segoe UI"/>
              </a:defRPr>
            </a:pPr>
            <a:r>
              <a:t>← bindRequest/Notification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5486400"/>
            <a:ext cx="3474720" cy="82296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5532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Segoe UI"/>
              </a:defRPr>
            </a:pPr>
            <a:r>
              <a:t>Eclipse JDT.LS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5852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Segoe UI"/>
              </a:defRPr>
            </a:pPr>
            <a:r>
              <a:t>delegate command handler → resolves Java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Java Debugging via vscode-java-debug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Full debugging experience through MCP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Segoe UI"/>
              </a:defRPr>
            </a:pPr>
            <a:r>
              <a:t>24 DAP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start_debugging — launch or attach to JVM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set_breakpoint / remove_breakpoint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step_over, step_in, step_out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get_stack_trace — full call stack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get_variables / get_local_variables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evaluate_expression — runtime evaluation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get_console_output — stdout/stderr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list_threads — multi-thread inspection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7ACC"/>
                </a:solidFill>
                <a:latin typeface="Segoe UI"/>
              </a:rPr>
              <a:t>▸ </a:t>
            </a:r>
            <a:r>
              <a:rPr sz="1500">
                <a:solidFill>
                  <a:srgbClr val="E0E0E0"/>
                </a:solidFill>
                <a:latin typeface="Segoe UI"/>
              </a:rPr>
              <a:t>get_debug_statistics — session summary
▸ build_workspace — smart build before debug (auto full/incremental)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4389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Segoe UI"/>
              </a:defRPr>
            </a:pPr>
            <a:r>
              <a:t>Example: AI-driven 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517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AA"/>
                </a:solidFill>
                <a:latin typeface="Consolas"/>
              </a:defRPr>
            </a:pPr>
            <a:r>
              <a:t>User: "There's a NullPointerException</a:t>
            </a:r>
            <a:br/>
            <a:r>
              <a:t>in UserService.createUser, debug it"</a:t>
            </a:r>
            <a:br/>
            <a:br/>
            <a:r>
              <a:t>Claude Code:</a:t>
            </a:r>
            <a:br/>
            <a:r>
              <a:t>  1. set_breakpoint("UserService.java", 42)</a:t>
            </a:r>
            <a:br/>
            <a:r>
              <a:t>  2. start_debugging("com.app.Main")</a:t>
            </a:r>
            <a:br/>
            <a:r>
              <a:t>  3. get_local_variables()</a:t>
            </a:r>
            <a:br/>
            <a:r>
              <a:t>     → user.email = null  ← root cause</a:t>
            </a:r>
            <a:br/>
            <a:r>
              <a:t>  4. evaluate_expression("user.toString()")</a:t>
            </a:r>
            <a:br/>
            <a:r>
              <a:t>  5. get_stack_trace()</a:t>
            </a:r>
            <a:br/>
            <a:r>
              <a:t>     → sees the full call chain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Demo: Java Tools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Real examples of Claude Code using MCP Language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25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Segoe UI"/>
              </a:defRPr>
            </a:pPr>
            <a:r>
              <a:t>Java / MicroProfile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[ TODO: screenshot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4389120"/>
          </a:xfrm>
          <a:prstGeom prst="roundRect">
            <a:avLst/>
          </a:prstGeom>
          <a:solidFill>
            <a:srgbClr val="25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Java Debugging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[ TODO: screenshot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Server Collaboration: Bind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Language servers communicate with each other — no custom code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743200" cy="100584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Segoe UI"/>
              </a:defRPr>
            </a:pPr>
            <a:r>
              <a:t>Qute 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template type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contributes →</a:t>
            </a:r>
            <a:br/>
            <a:r>
              <a:t>bundles + bindRequest/Notification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286000"/>
            <a:ext cx="2743200" cy="100584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Eclipse JDT.LS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delegate command handler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40"/>
            <a:ext cx="2743200" cy="868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Segoe UI"/>
              </a:defRPr>
            </a:pPr>
            <a:r>
              <a:t>Quarkus 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properties + YAML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611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DCAA"/>
                </a:solidFill>
                <a:latin typeface="Segoe UI"/>
              </a:defRPr>
            </a:pPr>
            <a:r>
              <a:t>contributes →</a:t>
            </a:r>
            <a:br/>
            <a:r>
              <a:t>bundles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520440"/>
            <a:ext cx="2743200" cy="868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Eclipse JDT.LS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Quarkus JDT extension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17720"/>
            <a:ext cx="2743200" cy="868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Segoe UI"/>
              </a:defRPr>
            </a:pPr>
            <a:r>
              <a:t>Quarkus 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properties + YAML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709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DCAA"/>
                </a:solidFill>
                <a:latin typeface="Segoe UI"/>
              </a:defRPr>
            </a:pPr>
            <a:r>
              <a:t>contributes →</a:t>
            </a:r>
            <a:br/>
            <a:r>
              <a:t>classpath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4617720"/>
            <a:ext cx="2743200" cy="868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MicroProfile 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Quarkus JAR on classpath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715000"/>
            <a:ext cx="2743200" cy="868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lemminx-liberty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26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server.xml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806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DCAA"/>
                </a:solidFill>
                <a:latin typeface="Segoe UI"/>
              </a:defRPr>
            </a:pPr>
            <a:r>
              <a:t>contributes →</a:t>
            </a:r>
            <a:br/>
            <a:r>
              <a:t>classpath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5715000"/>
            <a:ext cx="2743200" cy="868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LemMinX (XML)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126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Liberty JAR on classpath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2286000"/>
            <a:ext cx="2743200" cy="3749039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Contribution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83464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ACC"/>
                </a:solidFill>
                <a:latin typeface="Segoe UI"/>
              </a:rPr>
              <a:t>▸ </a:t>
            </a:r>
            <a:r>
              <a:rPr sz="1200">
                <a:solidFill>
                  <a:srgbClr val="E0E0E0"/>
                </a:solidFill>
                <a:latin typeface="Segoe UI"/>
              </a:rPr>
              <a:t>bundles: deploy OSGi plugins into JDT.LS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ACC"/>
                </a:solidFill>
                <a:latin typeface="Segoe UI"/>
              </a:rPr>
              <a:t>▸ </a:t>
            </a:r>
            <a:r>
              <a:rPr sz="1200">
                <a:solidFill>
                  <a:srgbClr val="E0E0E0"/>
                </a:solidFill>
                <a:latin typeface="Segoe UI"/>
              </a:rPr>
              <a:t>bindRequest/Notification: route custom LSP requests to delegate handler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ACC"/>
                </a:solidFill>
                <a:latin typeface="Segoe UI"/>
              </a:rPr>
              <a:t>▸ </a:t>
            </a:r>
            <a:r>
              <a:rPr sz="1200">
                <a:solidFill>
                  <a:srgbClr val="E0E0E0"/>
                </a:solidFill>
                <a:latin typeface="Segoe UI"/>
              </a:rPr>
              <a:t>classpath: extend another server's classpath with JARs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ACC"/>
                </a:solidFill>
                <a:latin typeface="Segoe UI"/>
              </a:rPr>
              <a:t>▸ </a:t>
            </a:r>
            <a:r>
              <a:rPr sz="1200">
                <a:solidFill>
                  <a:srgbClr val="E0E0E0"/>
                </a:solidFill>
                <a:latin typeface="Segoe UI"/>
              </a:rPr>
              <a:t>All declared in server.json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Open Platform: 18 Built-in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Easy to add your own language — just 2 JSON files, no code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858000" cy="20116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Segoe UI"/>
              </a:defRPr>
            </a:pPr>
            <a:r>
              <a:t>21 LSP servers (built-in)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Java (JDT.LS)  ·  JavaScript/TS  ·  Angular  ·  Python (Pyright)  ·  Go (gopls)</a:t>
            </a:r>
            <a:br/>
            <a:r>
              <a:t>Rust (rust-analyzer)  ·  C/C++ (clangd)  ·  C# (OmniSharp)  ·  XML (LemMinX)</a:t>
            </a:r>
            <a:br/>
            <a:r>
              <a:t>YAML  ·  Kotlin  ·  Dart  ·  PHP  ·  Lua  ·  Dockerfile  ·  MicroProfile  ·  Quarkus  ·  Qute  ·  Liberty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6858000" cy="146304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Segoe UI"/>
              </a:defRPr>
            </a:pPr>
            <a:r>
              <a:t>9 DAP servers (built-in)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Java (vscode-java-debug)  ·  JavaScript (vscode-js-debug)  ·  Python (debugpy)</a:t>
            </a:r>
            <a:br/>
            <a:r>
              <a:t>Go (delve)  ·  C/C++ (codelldb)  ·  C# (netcoredbg)  ·  Dart  ·  PHP  ·  Dockerfile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474720" cy="3749039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Segoe UI"/>
              </a:defRPr>
            </a:pPr>
            <a:r>
              <a:t>Add your own!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51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server.json — defines the server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installer.json — auto-download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No code needed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Drop files in extensions/ folder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SPI for advanced cases
(e.g., mcp-jdtls plugin)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DCAA"/>
                </a:solidFill>
                <a:latin typeface="Segoe UI"/>
              </a:defRPr>
            </a:pPr>
            <a:r>
              <a:t>These are default extensions — adding a new language is as simple as creating a folder with 2 JSON files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Adding a New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server.json + installer.json (auto-install) in the extensions/ folder — zero code</a:t>
            </a:r>
          </a:p>
        </p:txBody>
      </p:sp>
      <p:pic>
        <p:nvPicPr>
          <p:cNvPr id="5" name="Picture 4" descr="extension-j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798960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Admin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Real-time monitoring at localhost:7654/admin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651760" cy="29260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Segoe UI"/>
              </a:defRPr>
            </a:pPr>
            <a:r>
              <a:t>Workspaces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Monitor opened projects,</a:t>
            </a:r>
            <a:br/>
            <a:r>
              <a:t>server status (Running/Error),</a:t>
            </a:r>
            <a:br/>
            <a:r>
              <a:t>start/stop/restart,</a:t>
            </a:r>
            <a:br/>
            <a:r>
              <a:t>contribution diagrams,
workspace settings (file watcher toggle)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651760" cy="29260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Segoe UI"/>
              </a:defRPr>
            </a:pPr>
            <a:r>
              <a:t>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926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All 21 LSP servers,</a:t>
            </a:r>
            <a:br/>
            <a:r>
              <a:t>enable/disable, install,</a:t>
            </a:r>
            <a:br/>
            <a:r>
              <a:t>language filter,</a:t>
            </a:r>
            <a:br/>
            <a:r>
              <a:t>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194560"/>
            <a:ext cx="2651760" cy="29260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Segoe UI"/>
              </a:defRPr>
            </a:pPr>
            <a:r>
              <a:t>Debuggers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9 debug adapters,</a:t>
            </a:r>
            <a:br/>
            <a:r>
              <a:t>installation status,</a:t>
            </a:r>
            <a:br/>
            <a:r>
              <a:t>configuration,</a:t>
            </a:r>
            <a:br/>
            <a:r>
              <a:t>trace level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19" y="2194560"/>
            <a:ext cx="2651760" cy="292608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599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Segoe UI"/>
              </a:defRPr>
            </a:pPr>
            <a:r>
              <a:t>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9" y="2926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Connected MCP clients,</a:t>
            </a:r>
            <a:br/>
            <a:r>
              <a:t>live protocol traces,</a:t>
            </a:r>
            <a:br/>
            <a:r>
              <a:t>tool calls &amp; results,</a:t>
            </a:r>
            <a:br/>
            <a:r>
              <a:t>real-time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007ACC"/>
                </a:solidFill>
                <a:latin typeface="Segoe UI"/>
              </a:rPr>
              <a:t>▸ </a:t>
            </a:r>
            <a:r>
              <a:rPr sz="1600">
                <a:solidFill>
                  <a:srgbClr val="E0E0E0"/>
                </a:solidFill>
                <a:latin typeface="Segoe UI"/>
              </a:rPr>
              <a:t>Real-time WebSocket updates — live LSP/DAP/MCP trace viewing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007ACC"/>
                </a:solidFill>
                <a:latin typeface="Segoe UI"/>
              </a:rPr>
              <a:t>▸ </a:t>
            </a:r>
            <a:r>
              <a:rPr sz="1600">
                <a:solidFill>
                  <a:srgbClr val="E0E0E0"/>
                </a:solidFill>
                <a:latin typeface="Segoe UI"/>
              </a:rPr>
              <a:t>Server collaboration diagrams (vis.js) — visualize bind relationships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Admin: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21 LSP servers — enable/disable, install, language filter, configuration</a:t>
            </a:r>
          </a:p>
        </p:txBody>
      </p:sp>
      <p:pic>
        <p:nvPicPr>
          <p:cNvPr id="5" name="Picture 4" descr="admin-ser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715289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Admin: Debuggers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9 debug adapters — installation status, configuration, trace level</a:t>
            </a:r>
          </a:p>
        </p:txBody>
      </p:sp>
      <p:pic>
        <p:nvPicPr>
          <p:cNvPr id="5" name="Picture 4" descr="admin-debu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677235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Admin: MCP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Connected clients, live protocol traces, tool calls &amp; results</a:t>
            </a:r>
          </a:p>
        </p:txBody>
      </p:sp>
      <p:pic>
        <p:nvPicPr>
          <p:cNvPr id="5" name="Picture 4" descr="admin-mcp-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82043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Admin: Server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Visualize bind relationships between LSP and DAP servers (vis.js)</a:t>
            </a:r>
          </a:p>
        </p:txBody>
      </p:sp>
      <p:pic>
        <p:nvPicPr>
          <p:cNvPr id="5" name="Picture 4" descr="admin-con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793253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Admin: Workspace /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Monitor opened projects, server status, traces, contribution diagrams</a:t>
            </a:r>
          </a:p>
        </p:txBody>
      </p:sp>
      <p:pic>
        <p:nvPicPr>
          <p:cNvPr id="5" name="Picture 4" descr="admin-workspace-ser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90449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Admin: Workspace / Debuggers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Per-workspace debug adapter instances — sessions, traces</a:t>
            </a:r>
          </a:p>
        </p:txBody>
      </p:sp>
      <p:pic>
        <p:nvPicPr>
          <p:cNvPr id="5" name="Picture 4" descr="admin-workspace-debu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92535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File Watcher: Keeping Language Servers in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When an AI agent creates files, language servers must know about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18288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6B6B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AI agent creates Java file on disk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6B6B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JDT.LS doesn't know about it → ClassNotFoundException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6B6B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Root cause: workspace/didChangeWatchedFiles was not implemented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182880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Segoe UI"/>
              </a:defRPr>
            </a:pPr>
            <a:r>
              <a:t>The Solution: 3 Mechanisms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4EC9B0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File Watcher — automatic, local workspaces (io.methvin directory-watcher (native OS APIs))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4EC9B0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refresh_workspace — explicit, like F5 in Eclipse IDE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4EC9B0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notify_file_changes — programmatic, works with remote too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256032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63440"/>
            <a:ext cx="2011680" cy="7315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E0E0"/>
                </a:solidFill>
                <a:latin typeface="Segoe UI"/>
              </a:defRPr>
            </a:pPr>
            <a:r>
              <a:t>File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Segoe UI"/>
              </a:defRPr>
            </a:pPr>
            <a:r>
              <a:t>*.java, pom.xml...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DCAA"/>
                </a:solidFill>
                <a:latin typeface="Segoe UI"/>
              </a:defRPr>
            </a:pPr>
            <a:r>
              <a:t>→ events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663440"/>
            <a:ext cx="2286000" cy="7315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Segoe UI"/>
              </a:defRPr>
            </a:pPr>
            <a:r>
              <a:t>WorkspaceFileWatcher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Segoe UI"/>
              </a:defRPr>
            </a:pPr>
            <a:r>
              <a:t>native recursive + batch 500ms + glob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DCAA"/>
                </a:solidFill>
                <a:latin typeface="Segoe UI"/>
              </a:defRPr>
            </a:pPr>
            <a:r>
              <a:t>→ LSP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663440"/>
            <a:ext cx="2926080" cy="7315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Language Servers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Segoe UI"/>
              </a:defRPr>
            </a:pPr>
            <a:r>
              <a:t>didChangeWatchedFiles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69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Static patterns (server.json) + dynamic (registerCapability)</a:t>
            </a:r>
            <a:br/>
            <a:r>
              <a:t>Event queuing when server stopped → replay on restart</a:t>
            </a:r>
            <a:br/>
            <a:r>
              <a:t>Configurable excludes (fileWatchers.excludePatterns)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669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JDT.LS: also needs project.refreshLocal() via mcp-jdtls</a:t>
            </a:r>
            <a:br/>
            <a:r>
              <a:t>→ refresh_workspace calls both LSP + server-specific refresh</a:t>
            </a:r>
            <a:br/>
            <a:r>
              <a:t>Smart build: needsFullBuild flag tracks file watcher coverage
→ Full build on first debug or after watcher interruption, incremental otherwise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Scaling to large Java projects and beyond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Segoe UI"/>
              </a:defRPr>
            </a:pPr>
            <a:r>
              <a:t>Known challenge:</a:t>
            </a:r>
            <a:br/>
            <a:r>
              <a:t>large project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Tested on Quarkus repo (huge codebase):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1. File scanning: each importer scans all files
  → very slow on large repos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2. Gradle conflict: build.gradle takes over pom.xml
  → Maven modules imported as Gradle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3. M2E import: ran 2h+, never completed
  → JDT.LS never becomes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43891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Fix JDT.LS import (scan, Gradle conflict)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Maven artifact caching strategy started
  → Quarkus repo: 2h+ → 48 min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Partial / incremental M2E import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Connect to running JDT.LS in IDE
  → reuse already-imported workspace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7ACC"/>
                </a:solidFill>
                <a:latin typeface="Segoe UI"/>
              </a:rPr>
              <a:t>▸ </a:t>
            </a:r>
            <a:r>
              <a:rPr sz="1400">
                <a:solidFill>
                  <a:srgbClr val="E0E0E0"/>
                </a:solidFill>
                <a:latin typeface="Segoe UI"/>
              </a:rPr>
              <a:t>More language extensions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Segoe UI"/>
              </a:defRPr>
            </a:pPr>
            <a:r>
              <a:t>Getting 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182880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1. Clone and start MCP Language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AA"/>
                </a:solidFill>
                <a:latin typeface="Consolas"/>
              </a:defRPr>
            </a:pPr>
            <a:r>
              <a:t>git clone https://github.com/angelozerr/mcp-languagetools</a:t>
            </a:r>
            <a:br/>
            <a:r>
              <a:t>cd mcp-languagetools</a:t>
            </a:r>
            <a:br/>
            <a:r>
              <a:t>./mvnw quarkus:dev -f dev/pom.xml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515600" cy="16459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2. Configure your MCP client (Claude Code, Bob...)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AA"/>
                </a:solidFill>
                <a:latin typeface="Consolas"/>
              </a:defRPr>
            </a:pPr>
            <a:r>
              <a:t>{</a:t>
            </a:r>
            <a:br/>
            <a:r>
              <a:t>  "mcpServers": {</a:t>
            </a:r>
            <a:br/>
            <a:r>
              <a:t>    "mcp-languagetools": { "url": "http://localhost:7654/mcp"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2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3. Ask your AI assistant to work on Java code!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0E0E0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30175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MCP Language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1E1E2E"/>
                </a:solidFill>
                <a:latin typeface="Segoe UI"/>
              </a:rPr>
              <a:t>▸ </a:t>
            </a:r>
            <a:r>
              <a:rPr sz="1800" u="sng">
                <a:latin typeface="Segoe UI"/>
                <a:solidFill>
                  <a:srgbClr val="E0E0E0"/>
                </a:solidFill>
                <a:hlinkClick r:id="rId2"/>
              </a:rPr>
              <a:t>github.com/angelozerr/mcp-languagetools</a:t>
            </a:r>
            <a:r>
              <a:rPr sz="1800">
                <a:solidFill>
                  <a:srgbClr val="E0E0E0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Admin Console: localhost:7654/admin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0E0"/>
                </a:solidFill>
                <a:latin typeface="Segoe U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0E0E0"/>
      </a:hlink>
      <a:folHlink>
        <a:srgbClr val="E0E0E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